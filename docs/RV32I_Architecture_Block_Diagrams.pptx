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Single-Cycle 32-bit RISC-V (RV32I) Processor Core</a:t>
            </a:r>
          </a:p>
          <a:p>
            <a:pPr>
              <a:spcBef>
                <a:spcPts val="1400"/>
              </a:spcBef>
              <a:defRPr sz="2200">
                <a:solidFill>
                  <a:srgbClr val="06B6D4"/>
                </a:solidFill>
              </a:defRPr>
            </a:pPr>
            <a:r>
              <a:t>Microarchitectural Block Diagrams, Datapath Derivation &amp; Hardware Architecture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Target FPGA: AMD Xilinx Artix-7 (XC7A35T-1CPG236C, Digilent Basys 3)  |  Tool: Vivado 2025.2</a:t>
            </a:r>
            <a:br/>
            <a:r>
              <a:t>Course: E3: 245 Processor System Design (DESE, IISc Bangalore)</a:t>
            </a:r>
            <a:br/>
            <a:r>
              <a:t>Author: Anirudh Chaturvedi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Level-0 Top-Level System Architecture (basys3_top)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FPGA Board Integration, Dual-Rate Synchronous Clocking &amp; Peripheral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2926080" cy="2011680"/>
          </a:xfrm>
          <a:prstGeom prst="roundRect">
            <a:avLst/>
          </a:prstGeom>
          <a:solidFill>
            <a:srgbClr val="28354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Clock Divider &amp; Synchronizer</a:t>
            </a:r>
            <a:br/>
            <a:r>
              <a:t>(clk_100mhz -&gt; clk_cpu)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Input: 100 MHz Oscillator (W5)</a:t>
            </a:r>
            <a:br/>
            <a:r>
              <a:t>• sw[1] = 0: 10 MHz Fast Execution</a:t>
            </a:r>
            <a:br/>
            <a:r>
              <a:t>• sw[1] = 1: 1 Hz Visual Single-Step</a:t>
            </a:r>
            <a:br/>
            <a:r>
              <a:t>• btnC: Master Active-High Reset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840480" cy="39319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Single-Cycle RV32I CPU Core (rv32i_cpu)</a:t>
            </a:r>
          </a:p>
          <a:p>
            <a:pPr>
              <a:spcBef>
                <a:spcPts val="800"/>
              </a:spcBef>
              <a:defRPr sz="1150">
                <a:solidFill>
                  <a:srgbClr val="E0E7FF"/>
                </a:solidFill>
              </a:defRPr>
            </a:pPr>
            <a:r>
              <a:t>• Datapath &amp; Control (CPI = 1.0)</a:t>
            </a:r>
            <a:br/>
            <a:r>
              <a:t>• 32 x 32-bit Register File (Hardwired x0 = 0)</a:t>
            </a:r>
            <a:br/>
            <a:r>
              <a:t>• 32-bit ALU (10 Operations)</a:t>
            </a:r>
            <a:br/>
            <a:r>
              <a:t>• Immediate Generator (I, S, B, U, J)</a:t>
            </a:r>
            <a:br/>
            <a:r>
              <a:t>• Pure Distributed RAM (512x32 = 2048 Bytes)</a:t>
            </a:r>
            <a:br/>
            <a:r>
              <a:t>• Unaligned Hardware Memory Transfer Engine</a:t>
            </a:r>
            <a:br/>
            <a:r>
              <a:t>• Zero Block RAM (0 BRAM Tiles)</a:t>
            </a:r>
            <a:br/>
            <a:r>
              <a:t>• Zero Register Inflation (64x RAM256X1S)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828800"/>
            <a:ext cx="2560320" cy="1828800"/>
          </a:xfrm>
          <a:prstGeom prst="roundRect">
            <a:avLst/>
          </a:prstGeom>
          <a:solidFill>
            <a:srgbClr val="28354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7-Segment Display Driver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4-Digit Time Multiplexed</a:t>
            </a:r>
            <a:br/>
            <a:r>
              <a:t>• sw[0] = 0: Quotient (14 / 0014)</a:t>
            </a:r>
            <a:br/>
            <a:r>
              <a:t>• sw[0] = 1: Remainder (2 / 0002)</a:t>
            </a:r>
            <a:br/>
            <a:r>
              <a:t>• Shadow Write-Spy Registers (0 extra read ports!)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3931920"/>
            <a:ext cx="2560320" cy="1828800"/>
          </a:xfrm>
          <a:prstGeom prst="roundRect">
            <a:avLst/>
          </a:prstGeom>
          <a:solidFill>
            <a:srgbClr val="28354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LED Status Telemetry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led[13:0] : PC[15:2] Execution Monitor</a:t>
            </a:r>
            <a:br/>
            <a:r>
              <a:t>• led[14]   : CPU Clock Heartbeat</a:t>
            </a:r>
            <a:br/>
            <a:r>
              <a:t>• led[15]   : CPU Self-Halt Indicator (PC = 0x3C)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Level-1 Detailed Single-Cycle Datapath Organization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Combinational Loop: Fetch -&gt; Decode -&gt; Execute -&gt; Memory -&gt; Writeback (T_crit = 14.19 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371600" cy="109728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Program Counter</a:t>
            </a:r>
          </a:p>
          <a:p>
            <a:r>
              <a:t>(PC Reg [31:0])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2194560"/>
            <a:ext cx="16459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Instruction Memory</a:t>
            </a:r>
          </a:p>
          <a:p>
            <a:r>
              <a:t>512 x 32</a:t>
            </a:r>
          </a:p>
          <a:p>
            <a:r>
              <a:t>(Distributed RAM)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1645920" cy="118872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Control Unit</a:t>
            </a:r>
          </a:p>
          <a:p>
            <a:r>
              <a:t>Opcode / funct3/7</a:t>
            </a:r>
          </a:p>
          <a:p>
            <a:r>
              <a:t>Combinational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926080"/>
            <a:ext cx="1645920" cy="1645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Register File</a:t>
            </a:r>
          </a:p>
          <a:p>
            <a:r>
              <a:t>32 x 32-bit</a:t>
            </a:r>
          </a:p>
          <a:p>
            <a:r>
              <a:t>Dual Async Read</a:t>
            </a:r>
          </a:p>
          <a:p>
            <a:r>
              <a:t>Sync Write</a:t>
            </a:r>
          </a:p>
          <a:p>
            <a:r>
              <a:t>(x0 ==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846320"/>
            <a:ext cx="164592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Immediate Gen</a:t>
            </a:r>
          </a:p>
          <a:p>
            <a:r>
              <a:t>I, S, B, U, J</a:t>
            </a:r>
          </a:p>
          <a:p>
            <a:r>
              <a:t>Sign Extender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1645920" cy="1645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32-bit ALU</a:t>
            </a:r>
          </a:p>
          <a:p>
            <a:r>
              <a:t>10 Operations</a:t>
            </a:r>
          </a:p>
          <a:p>
            <a:r>
              <a:t>Carry Chains</a:t>
            </a:r>
          </a:p>
          <a:p>
            <a:r>
              <a:t>Result &amp; Zero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560320"/>
            <a:ext cx="1828800" cy="18288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Mem Unit</a:t>
            </a:r>
          </a:p>
          <a:p>
            <a:r>
              <a:t>4 Banked RAMs</a:t>
            </a:r>
          </a:p>
          <a:p>
            <a:r>
              <a:t>(4 x 512x8)</a:t>
            </a:r>
          </a:p>
          <a:p>
            <a:r>
              <a:t>Unaligned Barrel Shifter</a:t>
            </a:r>
          </a:p>
          <a:p>
            <a:r>
              <a:t>Write-Spy Registers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2560320"/>
            <a:ext cx="1097280" cy="18288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WB Mux</a:t>
            </a:r>
          </a:p>
          <a:p>
            <a:r>
              <a:t>0: ALU</a:t>
            </a:r>
          </a:p>
          <a:p>
            <a:r>
              <a:t>1: Mem</a:t>
            </a:r>
          </a:p>
          <a:p>
            <a:r>
              <a:t>2: PC+4</a:t>
            </a:r>
          </a:p>
          <a:p>
            <a:r>
              <a:t>3: LUI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Module 1 Focus: 32-bit RV32I ALU Architecture (alu.v)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10 Base RV32I Operations, Corner-Case Handling, and Hardware Delay Characteristics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ALU Interface &amp; Hardware Implementation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Inputs:</a:t>
            </a:r>
            <a:br/>
            <a:r>
              <a:t>   - a[31:0]      : Operand A (from Register File rdata1)</a:t>
            </a:r>
            <a:br/>
            <a:r>
              <a:t>   - b[31:0]      : Operand B (from ALUSrc Mux: rdata2 or Imm)</a:t>
            </a:r>
            <a:br/>
            <a:r>
              <a:t>   - alu_op[3:0]  : 4-bit Operation Control</a:t>
            </a:r>
            <a:br/>
            <a:r>
              <a:t>• Outputs:</a:t>
            </a:r>
            <a:br/>
            <a:r>
              <a:t>   - result[31:0] : 32-bit Arithmetic/Logic Result</a:t>
            </a:r>
            <a:br/>
            <a:r>
              <a:t>   - zero         : Asserted when result == 0 (Branch evaluator)</a:t>
            </a:r>
            <a:br/>
            <a:br/>
            <a:r>
              <a:t>• Physical Hardware Mapping:</a:t>
            </a:r>
            <a:br/>
            <a:r>
              <a:t>   - Maps to 32-bit Fast Carry Chains (CARRY4 primitives)</a:t>
            </a:r>
            <a:br/>
            <a:r>
              <a:t>   - 128 Slice LUTs on Xilinx Artix-7</a:t>
            </a:r>
            <a:br/>
            <a:r>
              <a:t>   - Propagation Delay: T_ALU = 3.45 ns (Part of Critical Path)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Key RTL Insights &amp; Interview Defense Traps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1. 5-bit Shift Window b[4:0]:</a:t>
            </a:r>
            <a:br/>
            <a:r>
              <a:t>   In a 32-bit processor, shifting &gt;= 32 bits clears the word. 2^5 = 32, so RISC-V specifies only the lower 5 bits b[4:0] control shifts (SLL, SRL, SRA). Ignoring upper 27 bits saves massive LUT muxes!</a:t>
            </a:r>
            <a:br/>
            <a:br/>
            <a:r>
              <a:t>2. Signed vs. Unsigned Set Less Than (SLT vs. SLTU):</a:t>
            </a:r>
            <a:br/>
            <a:r>
              <a:t>   - A = 0xFFFFFFFF (-1 signed, 4.29B unsigned), B = 0x00000001 (+1)</a:t>
            </a:r>
            <a:br/>
            <a:r>
              <a:t>   - SLT  : ($signed(a) &lt; $signed(b)) ? 1 : 0  ==&gt; Returns 1 (True)</a:t>
            </a:r>
            <a:br/>
            <a:r>
              <a:t>   - SLTU : (a &lt; b) ? 1 : 0                     ==&gt; Returns 0 (False)</a:t>
            </a:r>
            <a:br/>
            <a:br/>
            <a:r>
              <a:t>3. Logical vs. Arithmetic Shift (SRL vs. SRA):</a:t>
            </a:r>
            <a:br/>
            <a:r>
              <a:t>   - SRA preserves the sign bit: $signed(a) &gt;&gt;&gt; b[4:0]</a:t>
            </a:r>
            <a:br/>
            <a:r>
              <a:t>   - SRL shifts in zeros: a &gt;&gt; b[4:0]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Memory Architecture &amp; Core PPA Optimization Milestones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Pure Distributed RAM, 16k FF Inflation Resolution, and Unaligned Barrel-Shifting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PPA Optimization #1: Memory Banking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• The 16,384 Flip-Flop Inflation Disaster:</a:t>
            </a:r>
            <a:br/>
            <a:r>
              <a:t>  - Naive memory was declared as flat array: reg [7:0] mem [0:2047]</a:t>
            </a:r>
            <a:br/>
            <a:r>
              <a:t>  - Variable unaligned read taps forced Vivado to infer discrete registers</a:t>
            </a:r>
            <a:br/>
            <a:r>
              <a:t>  - Synthesis time blew up to 25 minutes, consuming 39.4% of the FPGA registers!</a:t>
            </a:r>
            <a:br/>
            <a:br/>
            <a:r>
              <a:t>• The Architectural Solution:</a:t>
            </a:r>
            <a:br/>
            <a:r>
              <a:t>  - Partitioned into 4 byte-wide Distributed RAM banks (dmem0..dmem3)</a:t>
            </a:r>
            <a:br/>
            <a:r>
              <a:t>  - Exactly 1 read and 1 write port per bank</a:t>
            </a:r>
            <a:br/>
            <a:r>
              <a:t>  - Inferred 64 x RAM256X1S primitives directly in SLICEM LUTs</a:t>
            </a:r>
            <a:br/>
            <a:r>
              <a:t>  - Memory FFs dropped from 16,384 to 0 (256 LUTs total!)</a:t>
            </a:r>
            <a:br/>
            <a:r>
              <a:t>  - Synthesis time dropped from 25 min to 18 seconds (83x speedup!)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PPA Optimization #2: Unaligned Transfer &amp; Write Spies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• Unaligned Load Dataflow:</a:t>
            </a:r>
            <a:br/>
            <a:r>
              <a:t>  - Reads Word_0 and Word_1 combinationally</a:t>
            </a:r>
            <a:br/>
            <a:r>
              <a:t>  - 64-bit continuous span: { Word_1, Word_0 }</a:t>
            </a:r>
            <a:br/>
            <a:r>
              <a:t>  - Barrel-shifts right by (8 * addr[1:0]) bits</a:t>
            </a:r>
            <a:br/>
            <a:r>
              <a:t>  - Sign/zero-extended based on funct3 (lb, lh, lw)</a:t>
            </a:r>
            <a:br/>
            <a:br/>
            <a:r>
              <a:t>• Unaligned Store Dataflow:</a:t>
            </a:r>
            <a:br/>
            <a:r>
              <a:t>  - Base byte mask (sb: 0001, sh: 0011, sw: 1111)</a:t>
            </a:r>
            <a:br/>
            <a:r>
              <a:t>  - Shifted left by byte offset k = addr[1:0]</a:t>
            </a:r>
            <a:br/>
            <a:r>
              <a:t>  - [3:0] writes Word_A, [7:4] writes Word_B</a:t>
            </a:r>
            <a:br/>
            <a:br/>
            <a:r>
              <a:t>• Zero-Overhead Write-Spy Debug Registers:</a:t>
            </a:r>
            <a:br/>
            <a:r>
              <a:t>  - Spies on memory write bus at 0x200 (Quotient) &amp; 0x204 (Remainder)</a:t>
            </a:r>
            <a:br/>
            <a:r>
              <a:t>  - Avoids adding extra read ports to RAM (which would double LUT RAMs)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